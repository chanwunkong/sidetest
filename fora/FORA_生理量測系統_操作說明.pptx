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2B3"/>
    <a:srgbClr val="5FB990"/>
    <a:srgbClr val="87CAAC"/>
    <a:srgbClr val="12B3C4"/>
    <a:srgbClr val="FF6600"/>
    <a:srgbClr val="FF0000"/>
    <a:srgbClr val="28AECF"/>
    <a:srgbClr val="13C3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1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9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-3648" y="-10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6650701-39C2-4C39-B774-AC0ACA9B57F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1597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5D6E0B5-C9D1-4321-9F3E-3F5A2FCA6E31}" type="datetimeFigureOut">
              <a:rPr lang="zh-TW" altLang="en-US"/>
              <a:pPr>
                <a:defRPr/>
              </a:pPr>
              <a:t>2024/4/1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6D86CCB-8F76-4AE6-907E-95309338C67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3689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7"/>
          <p:cNvSpPr>
            <a:spLocks noChangeArrowheads="1"/>
          </p:cNvSpPr>
          <p:nvPr userDrawn="1"/>
        </p:nvSpPr>
        <p:spPr bwMode="auto">
          <a:xfrm>
            <a:off x="0" y="6618288"/>
            <a:ext cx="9144000" cy="239712"/>
          </a:xfrm>
          <a:prstGeom prst="rect">
            <a:avLst/>
          </a:prstGeom>
          <a:solidFill>
            <a:srgbClr val="009F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endParaRPr lang="zh-TW" altLang="en-US" smtClean="0"/>
          </a:p>
        </p:txBody>
      </p:sp>
      <p:sp>
        <p:nvSpPr>
          <p:cNvPr id="30741" name="Rectangle 2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46140" y="2584703"/>
            <a:ext cx="6596065" cy="1219201"/>
          </a:xfrm>
        </p:spPr>
        <p:txBody>
          <a:bodyPr anchor="t" anchorCtr="0"/>
          <a:lstStyle>
            <a:lvl1pPr>
              <a:defRPr sz="4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 smtClean="0"/>
              <a:t>簡報標題</a:t>
            </a:r>
            <a:endParaRPr lang="zh-TW" altLang="en-US" dirty="0"/>
          </a:p>
        </p:txBody>
      </p:sp>
      <p:sp>
        <p:nvSpPr>
          <p:cNvPr id="30742" name="Rectangle 2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46141" y="5059680"/>
            <a:ext cx="6770872" cy="755904"/>
          </a:xfrm>
        </p:spPr>
        <p:txBody>
          <a:bodyPr anchor="b" anchorCtr="0"/>
          <a:lstStyle>
            <a:lvl1pPr marL="0" indent="0" eaLnBrk="1" hangingPunct="1">
              <a:lnSpc>
                <a:spcPct val="80000"/>
              </a:lnSpc>
              <a:spcBef>
                <a:spcPct val="0"/>
              </a:spcBef>
              <a:buFontTx/>
              <a:buNone/>
              <a:defRPr sz="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TW" altLang="en-US" sz="2000" dirty="0" smtClean="0"/>
              <a:t>簡報單位 簡報人名稱</a:t>
            </a:r>
            <a:r>
              <a:rPr lang="en-US" altLang="zh-TW" sz="2000" dirty="0" smtClean="0"/>
              <a:t> </a:t>
            </a:r>
            <a:r>
              <a:rPr lang="zh-TW" altLang="en-US" sz="2000" dirty="0" smtClean="0"/>
              <a:t>職稱</a:t>
            </a:r>
            <a:endParaRPr lang="en-US" altLang="zh-TW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9" name="文字版面配置區 8"/>
          <p:cNvSpPr>
            <a:spLocks noGrp="1"/>
          </p:cNvSpPr>
          <p:nvPr>
            <p:ph type="body" sz="quarter" idx="12" hasCustomPrompt="1"/>
          </p:nvPr>
        </p:nvSpPr>
        <p:spPr>
          <a:xfrm>
            <a:off x="546140" y="5902262"/>
            <a:ext cx="2788603" cy="432303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TW" altLang="en-US" dirty="0" smtClean="0"/>
              <a:t>簡報日期</a:t>
            </a:r>
            <a:endParaRPr lang="zh-TW" altLang="en-US" dirty="0"/>
          </a:p>
        </p:txBody>
      </p:sp>
      <p:pic>
        <p:nvPicPr>
          <p:cNvPr id="12" name="Picture 28" descr="itri_CEL_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27" y="354013"/>
            <a:ext cx="26527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48"/>
          <p:cNvSpPr txBox="1">
            <a:spLocks noChangeArrowheads="1"/>
          </p:cNvSpPr>
          <p:nvPr userDrawn="1"/>
        </p:nvSpPr>
        <p:spPr bwMode="auto">
          <a:xfrm>
            <a:off x="-1" y="6616092"/>
            <a:ext cx="35671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zh-TW" sz="1000" dirty="0" smtClean="0">
                <a:solidFill>
                  <a:schemeClr val="bg1"/>
                </a:solidFill>
                <a:ea typeface="微軟正黑體" panose="020B0604030504040204" pitchFamily="34" charset="-120"/>
              </a:rPr>
              <a:t>©</a:t>
            </a:r>
            <a:r>
              <a:rPr lang="zh-TW" altLang="en-US" sz="1000" dirty="0" smtClean="0">
                <a:solidFill>
                  <a:schemeClr val="bg1"/>
                </a:solidFill>
                <a:ea typeface="微軟正黑體" panose="020B0604030504040204" pitchFamily="34" charset="-120"/>
              </a:rPr>
              <a:t>工業技術研究院  權利所有。</a:t>
            </a:r>
            <a:endParaRPr lang="zh-TW" altLang="en-US" sz="1000" dirty="0" smtClean="0">
              <a:solidFill>
                <a:schemeClr val="bg1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325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078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39863"/>
            <a:ext cx="6126480" cy="4757737"/>
          </a:xfrm>
        </p:spPr>
        <p:txBody>
          <a:bodyPr/>
          <a:lstStyle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5" name="圖片版面配置區 2"/>
          <p:cNvSpPr>
            <a:spLocks noGrp="1"/>
          </p:cNvSpPr>
          <p:nvPr>
            <p:ph type="pic" idx="11"/>
          </p:nvPr>
        </p:nvSpPr>
        <p:spPr>
          <a:xfrm>
            <a:off x="6721574" y="1439863"/>
            <a:ext cx="2098576" cy="47577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697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39863"/>
            <a:ext cx="8360228" cy="3184388"/>
          </a:xfrm>
        </p:spPr>
        <p:txBody>
          <a:bodyPr/>
          <a:lstStyle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450849" y="316992"/>
            <a:ext cx="8366579" cy="88950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圖片版面配置區 2"/>
          <p:cNvSpPr>
            <a:spLocks noGrp="1"/>
          </p:cNvSpPr>
          <p:nvPr>
            <p:ph type="pic" idx="11"/>
          </p:nvPr>
        </p:nvSpPr>
        <p:spPr>
          <a:xfrm>
            <a:off x="457200" y="4725145"/>
            <a:ext cx="8360228" cy="15841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331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035546"/>
          </a:xfrm>
        </p:spPr>
        <p:txBody>
          <a:bodyPr anchor="t" anchorCtr="0">
            <a:noAutofit/>
          </a:bodyPr>
          <a:lstStyle>
            <a:lvl1pPr algn="ctr">
              <a:defRPr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6661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9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7612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542733"/>
            <a:ext cx="4105275" cy="4757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14875" y="1542733"/>
            <a:ext cx="4106863" cy="47577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545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19" name="投影片編號版面配置區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" name="Rectangle 43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316992"/>
            <a:ext cx="8369300" cy="889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20010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4" name="標題 7"/>
          <p:cNvSpPr>
            <a:spLocks noGrp="1"/>
          </p:cNvSpPr>
          <p:nvPr>
            <p:ph type="title"/>
          </p:nvPr>
        </p:nvSpPr>
        <p:spPr>
          <a:xfrm>
            <a:off x="450850" y="316992"/>
            <a:ext cx="8369300" cy="88950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72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2551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311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2855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5194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29413" y="313944"/>
            <a:ext cx="2092325" cy="5864352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0850" y="313944"/>
            <a:ext cx="6126163" cy="586435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1FFAD-F905-4792-971B-681FA4F61CA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65464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7"/>
          <p:cNvSpPr>
            <a:spLocks noChangeArrowheads="1"/>
          </p:cNvSpPr>
          <p:nvPr userDrawn="1"/>
        </p:nvSpPr>
        <p:spPr bwMode="auto">
          <a:xfrm>
            <a:off x="0" y="6618288"/>
            <a:ext cx="9144000" cy="239712"/>
          </a:xfrm>
          <a:prstGeom prst="rect">
            <a:avLst/>
          </a:prstGeom>
          <a:solidFill>
            <a:srgbClr val="009F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endParaRPr lang="zh-TW" altLang="en-US" smtClean="0"/>
          </a:p>
        </p:txBody>
      </p:sp>
      <p:sp>
        <p:nvSpPr>
          <p:cNvPr id="1027" name="Rectangle 43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316992"/>
            <a:ext cx="8369300" cy="889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39863"/>
            <a:ext cx="8364538" cy="475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29743" name="Rectangle 4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619875"/>
            <a:ext cx="5715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fontAlgn="ctr" hangingPunct="1">
              <a:defRPr sz="1200">
                <a:solidFill>
                  <a:schemeClr val="bg1"/>
                </a:solidFill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1A71FFAD-F905-4792-971B-681FA4F61CA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2" name="Picture 49" descr="itri_CEL_A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3838" y="6278563"/>
            <a:ext cx="125095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48"/>
          <p:cNvSpPr txBox="1">
            <a:spLocks noChangeArrowheads="1"/>
          </p:cNvSpPr>
          <p:nvPr userDrawn="1"/>
        </p:nvSpPr>
        <p:spPr bwMode="auto">
          <a:xfrm>
            <a:off x="-1" y="6616092"/>
            <a:ext cx="35671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l" eaLnBrk="1" hangingPunct="1">
              <a:defRPr/>
            </a:pPr>
            <a:r>
              <a:rPr lang="en-US" altLang="zh-TW" sz="1000" dirty="0" smtClean="0">
                <a:solidFill>
                  <a:schemeClr val="bg1"/>
                </a:solidFill>
                <a:ea typeface="微軟正黑體" panose="020B0604030504040204" pitchFamily="34" charset="-120"/>
              </a:rPr>
              <a:t>©</a:t>
            </a:r>
            <a:r>
              <a:rPr lang="zh-TW" altLang="en-US" sz="1000" dirty="0" smtClean="0">
                <a:solidFill>
                  <a:schemeClr val="bg1"/>
                </a:solidFill>
                <a:ea typeface="微軟正黑體" panose="020B0604030504040204" pitchFamily="34" charset="-120"/>
              </a:rPr>
              <a:t>工業技術研究院  權利所有。</a:t>
            </a:r>
            <a:endParaRPr lang="zh-TW" altLang="en-US" sz="1000" dirty="0" smtClean="0">
              <a:solidFill>
                <a:schemeClr val="bg1"/>
              </a:solidFill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5" r:id="rId2"/>
    <p:sldLayoutId id="2147483916" r:id="rId3"/>
    <p:sldLayoutId id="2147483917" r:id="rId4"/>
    <p:sldLayoutId id="2147483903" r:id="rId5"/>
    <p:sldLayoutId id="2147483904" r:id="rId6"/>
    <p:sldLayoutId id="2147483905" r:id="rId7"/>
    <p:sldLayoutId id="2147483906" r:id="rId8"/>
    <p:sldLayoutId id="2147483908" r:id="rId9"/>
    <p:sldLayoutId id="2147483914" r:id="rId10"/>
    <p:sldLayoutId id="2147483909" r:id="rId11"/>
    <p:sldLayoutId id="2147483910" r:id="rId12"/>
    <p:sldLayoutId id="2147483911" r:id="rId13"/>
    <p:sldLayoutId id="2147483912" r:id="rId14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600">
          <a:solidFill>
            <a:schemeClr val="tx2"/>
          </a:solidFill>
          <a:latin typeface="Arial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FORA 生理量測系統 操作說明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生理量測．拍照紀錄　完整使用手冊　｜　2026-08-25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/>
              <a:t>系統簡介</a:t>
            </a:r>
          </a:p>
          <a:p>
            <a:r>
              <a:rPr sz="2000"/>
              <a:t>步驟一：輸入／掃描病歷號</a:t>
            </a:r>
          </a:p>
          <a:p>
            <a:r>
              <a:rPr sz="2000"/>
              <a:t>生理量測：四種量測儀器共通操作方式</a:t>
            </a:r>
          </a:p>
          <a:p>
            <a:r>
              <a:rPr sz="2000"/>
              <a:t>生理量測：四頁面總覽</a:t>
            </a:r>
          </a:p>
          <a:p>
            <a:r>
              <a:rPr sz="2000"/>
              <a:t>生理量測：手動輸入模式</a:t>
            </a:r>
          </a:p>
          <a:p>
            <a:r>
              <a:rPr sz="2000"/>
              <a:t>拍照：攝入／排出／傷口 三頁面總覽</a:t>
            </a:r>
          </a:p>
          <a:p>
            <a:r>
              <a:rPr sz="2000"/>
              <a:t>傷口：選擇部位（必填）</a:t>
            </a:r>
          </a:p>
          <a:p>
            <a:r>
              <a:rPr sz="2000"/>
              <a:t>傷口：點選人體圖自動帶入</a:t>
            </a:r>
          </a:p>
          <a:p>
            <a:r>
              <a:rPr sz="2000"/>
              <a:t>傷口：切換正面／背面／左右側視圖</a:t>
            </a:r>
          </a:p>
          <a:p>
            <a:r>
              <a:rPr sz="2000"/>
              <a:t>拍照：拍攝或選擇照片（三頁面共通）</a:t>
            </a:r>
          </a:p>
          <a:p>
            <a:r>
              <a:rPr sz="2000"/>
              <a:t>上傳：確認並送出</a:t>
            </a:r>
          </a:p>
          <a:p>
            <a:r>
              <a:rPr sz="2000"/>
              <a:t>查看歷史紀錄</a:t>
            </a:r>
          </a:p>
          <a:p>
            <a:r>
              <a:rPr sz="2000"/>
              <a:t>注意事項與驗證規則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系統簡介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病房床邊生理量測資料收集頁面（網頁版，免安裝）</a:t>
            </a:r>
          </a:p>
          <a:p>
            <a:r>
              <a:t>六個主要頁籤：體溫計、血氧機、血糖血壓2合1、血液6合1、拍照、紀錄</a:t>
            </a:r>
          </a:p>
          <a:p>
            <a:r>
              <a:t>生理量測可連接藍牙儀器，亦可切換為手動輸入</a:t>
            </a:r>
          </a:p>
          <a:p>
            <a:r>
              <a:t>「拍照」頁籤可記錄攝入／排出／傷口 三類照片</a:t>
            </a:r>
          </a:p>
        </p:txBody>
      </p:sp>
      <p:pic>
        <p:nvPicPr>
          <p:cNvPr id="5" name="Picture 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36" y="274320"/>
            <a:ext cx="2858031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步驟一：輸入／掃描病歷號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於畫面上方「病歷號」欄位輸入病患病歷號碼</a:t>
            </a:r>
          </a:p>
          <a:p>
            <a:r>
              <a:t>或點選右側「掃描」，開啟相機掃描 QR Code／條碼自動帶入</a:t>
            </a:r>
          </a:p>
          <a:p>
            <a:r>
              <a:t>右上角「病房代碼」預設為 yt，可依需求調整</a:t>
            </a:r>
          </a:p>
          <a:p>
            <a:r>
              <a:t>病歷號為上傳資料的必要欄位，各頁籤皆共用同一筆病歷號</a:t>
            </a:r>
          </a:p>
        </p:txBody>
      </p:sp>
      <p:pic>
        <p:nvPicPr>
          <p:cNvPr id="5" name="Picture 4" descr="02-patient-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36" y="274320"/>
            <a:ext cx="2858031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生理量測：四種量測儀器共通操作方式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上方頁籤：體溫計、血氧機、血糖血壓2合1、血液6合1</a:t>
            </a:r>
          </a:p>
          <a:p>
            <a:r>
              <a:t>點選「連線設備」與藍牙儀器配對，量測數值會自動顯示於畫面</a:t>
            </a:r>
          </a:p>
          <a:p>
            <a:r>
              <a:t>體溫計：體溫；血氧機：血氧SpO2＋心率</a:t>
            </a:r>
          </a:p>
          <a:p>
            <a:r>
              <a:t>血糖血壓2合1：血壓＋心率＋血糖；血液6合1：血糖／尿酸／總膽固醇等6項指標</a:t>
            </a:r>
          </a:p>
        </p:txBody>
      </p:sp>
      <p:pic>
        <p:nvPicPr>
          <p:cNvPr id="5" name="Picture 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36" y="274320"/>
            <a:ext cx="2858031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生理量測：四頁面總覽</a:t>
            </a:r>
          </a:p>
        </p:txBody>
      </p:sp>
      <p:pic>
        <p:nvPicPr>
          <p:cNvPr id="3" name="Picture 2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85613"/>
            <a:ext cx="1956816" cy="40068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714999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/>
              <a:t>體溫計</a:t>
            </a:r>
          </a:p>
        </p:txBody>
      </p:sp>
      <p:pic>
        <p:nvPicPr>
          <p:cNvPr id="5" name="Picture 4" descr="20-o2-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888" y="1585613"/>
            <a:ext cx="1956816" cy="40068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32888" y="5714999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/>
              <a:t>血氧機</a:t>
            </a:r>
          </a:p>
        </p:txBody>
      </p:sp>
      <p:pic>
        <p:nvPicPr>
          <p:cNvPr id="7" name="Picture 6" descr="21-d40-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585613"/>
            <a:ext cx="1956816" cy="40068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54296" y="5714999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/>
              <a:t>血糖血壓2合1</a:t>
            </a:r>
          </a:p>
        </p:txBody>
      </p:sp>
      <p:pic>
        <p:nvPicPr>
          <p:cNvPr id="9" name="Picture 8" descr="22-md6-t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4" y="1585613"/>
            <a:ext cx="1956816" cy="40068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75704" y="5714999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/>
              <a:t>血液6合1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/>
              <a:t>四個頁面版型一致：連線狀態徽章＋「連線設備／斷開連線」＋數值顯示區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生理量測：手動輸入模式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若無藍牙裝置或連線失敗，可將下方「輸入方式」切換為「手動輸入」</a:t>
            </a:r>
          </a:p>
          <a:p>
            <a:r>
              <a:t>切換後畫面改為數值輸入框，輸入完成按「確認輸入」即完成記錄</a:t>
            </a:r>
          </a:p>
          <a:p>
            <a:r>
              <a:t>血液6合1可另外選擇量測項目類型（血糖／尿酸／總膽固醇／血酮／血紅素／血球容積比）</a:t>
            </a:r>
          </a:p>
          <a:p>
            <a:r>
              <a:t>血糖血壓2合1可切換輸入「血壓與心率」或「血糖」</a:t>
            </a:r>
          </a:p>
        </p:txBody>
      </p:sp>
      <p:pic>
        <p:nvPicPr>
          <p:cNvPr id="5" name="Picture 4" descr="23-temp-m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36" y="274320"/>
            <a:ext cx="2858031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拍照：攝入／排出／傷口 三頁面總覽</a:t>
            </a:r>
          </a:p>
        </p:txBody>
      </p:sp>
      <p:pic>
        <p:nvPicPr>
          <p:cNvPr id="5" name="Picture 4" descr="03-photo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087" y="1417320"/>
            <a:ext cx="2031881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50992"/>
            <a:ext cx="4105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/>
              <a:t>攝入／排出：僅需拍照，無額外必填欄位</a:t>
            </a:r>
          </a:p>
        </p:txBody>
      </p:sp>
      <p:pic>
        <p:nvPicPr>
          <p:cNvPr id="7" name="Picture 6" descr="04-wound-sub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191" y="1417320"/>
            <a:ext cx="2031881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18304" y="5650992"/>
            <a:ext cx="4105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/>
              <a:t>傷口：多一道「傷口部位」必填欄位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/>
              <a:t>點選「拍照」頁籤後，下方分為攝入、排出、傷口 三個子頁籤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傷口：選擇部位（必填）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「傷口部位」為必填欄位，未填寫無法拍照或上傳</a:t>
            </a:r>
          </a:p>
          <a:p>
            <a:r>
              <a:t>可直接於文字框輸入部位名稱</a:t>
            </a:r>
          </a:p>
          <a:p>
            <a:r>
              <a:t>或於下方人體圖點選對應區域，自動帶入部位文字</a:t>
            </a:r>
          </a:p>
        </p:txBody>
      </p:sp>
      <p:pic>
        <p:nvPicPr>
          <p:cNvPr id="5" name="Picture 4" descr="04-wound-sub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36" y="274320"/>
            <a:ext cx="2858031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傷口：點選人體圖自動帶入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人體圖上約 25～35 個可點擊熱區，涵蓋頭、耳、四肢、關節等部位</a:t>
            </a:r>
          </a:p>
          <a:p>
            <a:r>
              <a:t>以「左耳」為例：點選後區塊反白選取，並自動填入「左耳」</a:t>
            </a:r>
          </a:p>
          <a:p>
            <a:r>
              <a:t>小區域（如耳朵）與周邊大區域重疊時，優先回應小區域點擊</a:t>
            </a:r>
          </a:p>
        </p:txBody>
      </p:sp>
      <p:pic>
        <p:nvPicPr>
          <p:cNvPr id="5" name="Picture 4" descr="06-ear-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36" y="274320"/>
            <a:ext cx="2858031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傷口：切換正面／背面／左右側視圖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圖示上方提供 4 個視圖切換鈕：正面、背面、左側、右側</a:t>
            </a:r>
          </a:p>
          <a:p>
            <a:r>
              <a:t>左側／右側視圖會依鏡射切換左右標籤</a:t>
            </a:r>
          </a:p>
          <a:p>
            <a:r>
              <a:t>已選部位會保留在文字框中，切換視圖不會清除</a:t>
            </a:r>
          </a:p>
        </p:txBody>
      </p:sp>
      <p:pic>
        <p:nvPicPr>
          <p:cNvPr id="5" name="Picture 4" descr="07-back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36" y="274320"/>
            <a:ext cx="2858031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拍照：拍攝或選擇照片（攝入／排出／傷口 共通）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開啟相機拍照（網頁內）：使用頁內相機模組拍攝，約1200萬像素</a:t>
            </a:r>
          </a:p>
          <a:p>
            <a:r>
              <a:t>拍照或選擇照片（原生畫質）：叫出手機原生相機／相簿，可取得更高解析度原圖</a:t>
            </a:r>
          </a:p>
          <a:p>
            <a:r>
              <a:t>拍攝後可「重新拍攝」、以原生畫質「覆蓋重拍」或「刪除」</a:t>
            </a:r>
          </a:p>
          <a:p>
            <a:r>
              <a:t>完成後下方「上傳」按鈕會由灰轉藍，代表可以送出</a:t>
            </a:r>
          </a:p>
        </p:txBody>
      </p:sp>
      <p:pic>
        <p:nvPicPr>
          <p:cNvPr id="5" name="Picture 4" descr="08-photo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36" y="274320"/>
            <a:ext cx="2858031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上傳：確認並送出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點選「上傳」後彈出「確認上傳資料」視窗</a:t>
            </a:r>
          </a:p>
          <a:p>
            <a:r>
              <a:t>顯示病歷號、病房、量測時間及各項量測值／照片清單</a:t>
            </a:r>
          </a:p>
          <a:p>
            <a:r>
              <a:t>確認無誤後按「確認上傳」才會真正送出；「取消」可返回修改</a:t>
            </a:r>
          </a:p>
          <a:p>
            <a:r>
              <a:t>上傳成功會顯示「上傳成功」畫面，可選「下一位病患」或「留在此頁」</a:t>
            </a:r>
          </a:p>
        </p:txBody>
      </p:sp>
      <p:pic>
        <p:nvPicPr>
          <p:cNvPr id="5" name="Picture 4" descr="10-upload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36" y="274320"/>
            <a:ext cx="2858031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查看歷史紀錄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「紀錄」頁籤可查看所有上傳紀錄（含失敗紀錄），最多保留 100 筆</a:t>
            </a:r>
          </a:p>
          <a:p>
            <a:r>
              <a:t>各項量測值與照片（如「傷口照片（部位）」）皆會列出</a:t>
            </a:r>
          </a:p>
          <a:p>
            <a:r>
              <a:t>資料儲存於瀏覽器本機（localStorage），可個別或全部清除</a:t>
            </a:r>
          </a:p>
        </p:txBody>
      </p:sp>
      <p:pic>
        <p:nvPicPr>
          <p:cNvPr id="5" name="Picture 4" descr="11-history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36" y="274320"/>
            <a:ext cx="2858031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傷口部位為必填：未選擇時，拍照／上傳照片按鈕會反灰，並提示「請先選擇傷口部位」</a:t>
            </a:r>
          </a:p>
          <a:p>
            <a:r>
              <a:rPr sz="1800"/>
              <a:t>上傳按鈕啟用條件：病歷號非空　且　至少一項量測值或一張照片</a:t>
            </a:r>
          </a:p>
          <a:p>
            <a:r>
              <a:rPr sz="1800"/>
              <a:t>一張照片（含傷口照片）即可單獨滿足上傳門檻，不需搭配其他生理量測數值</a:t>
            </a:r>
          </a:p>
          <a:p>
            <a:r>
              <a:rPr sz="1800"/>
              <a:t>確認上傳視窗會再次檢查病歷號，空白時顯示紅字錯誤訊息，無法送出</a:t>
            </a:r>
          </a:p>
          <a:p>
            <a:r>
              <a:rPr sz="1800"/>
              <a:t>各生理量測頁籤操作邏輯一致：連線設備 → 自動讀值，或切換手動輸入 → 輸入數值＋確認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注意事項與驗證規則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感謝聆聽，歡迎提出操作上的問題與建議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簡報內頁">
  <a:themeElements>
    <a:clrScheme name="簡報內頁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簡報內頁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簡報內頁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內頁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內頁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1252</TotalTime>
  <Words>2</Words>
  <Application>Microsoft Office PowerPoint</Application>
  <PresentationFormat>如螢幕大小 (4:3)</PresentationFormat>
  <Paragraphs>2</Paragraphs>
  <Slides>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微軟正黑體</vt:lpstr>
      <vt:lpstr>新細明體</vt:lpstr>
      <vt:lpstr>Arial</vt:lpstr>
      <vt:lpstr>Calibri</vt:lpstr>
      <vt:lpstr>簡報內頁</vt:lpstr>
      <vt:lpstr>PowerPoint 簡報</vt:lpstr>
      <vt:lpstr>PowerPoint 簡報</vt:lpstr>
    </vt:vector>
  </TitlesOfParts>
  <Company>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ITRI投影片範本B</dc:title>
  <dc:creator>ITRI</dc:creator>
  <cp:keywords>2008NewCIS</cp:keywords>
  <cp:lastModifiedBy>李沂霏</cp:lastModifiedBy>
  <cp:revision>104</cp:revision>
  <dcterms:created xsi:type="dcterms:W3CDTF">2008-05-08T04:38:45Z</dcterms:created>
  <dcterms:modified xsi:type="dcterms:W3CDTF">2024-04-01T06:55:17Z</dcterms:modified>
</cp:coreProperties>
</file>